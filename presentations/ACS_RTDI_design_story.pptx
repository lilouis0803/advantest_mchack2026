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開場：當一片 wafer 還在測試，工程師能否已經知道哪裡值得關注？本方案有兩個独立任務，分別服務工程師與測試程式。不是把兩個模型合成一個分數。</a:t>
            </a:r>
          </a:p>
          <a:p>
            <a:r>
              <a:t>來源：依據 Question_20260919.pdf 與本專案實驗；2026.09.20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題目描述的是測試完成後的資料處理負擔。評分中 Gemini 運行與正確時機各 25%，合計 50%。這是設計優先順序的依據，不是我們已獲得的成績。</a:t>
            </a:r>
          </a:p>
          <a:p>
            <a:r>
              <a:t>來源：題目：Question_20260919.pdf，第 1–2、7 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排除 W2 後是 24 片，每片 80 die，共 1920 die；每 die 3036 測項。但場景一的類別是 wafer 層級，不能把每個 die 當成獨立的異常類別標籤，也不能宣稱知道哪些 die 是根因。Site 特徵目前啟用於單一模型，沒有每 site 各訓練模型。</a:t>
            </a:r>
          </a:p>
          <a:p>
            <a:r>
              <a:t>來源：題目第 3 頁；data/TrainDataInfo.txt；artifacts/wafer_classifier/info.json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現行為 L2 logistic regression，使用 44 個摘要特徵，包括 fail 比例、site差異與分布變化。TestEnd 後累積已收到且完整的資料，至少16 die開始分類。通知政策另要求至少24 die且三次一致非Normal判斷，或異常WaferEnd。這些是目前工程設定，尚非實驗證明的最佳門檻。PF Fail與wafer模型類別分開。</a:t>
            </a:r>
          </a:p>
          <a:p>
            <a:r>
              <a:t>來源：realtime/classifier_features.py、classifier_engine.py、notifications.py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固定候選：Logistic L2 19/24，Random Forest17/24，Extra Trees18/24。Normal誤報分別0/17、0/17、1/17。五個單例類別的唯一wafer留出後，訓練集中沒有該類，所以不能解讀為七類泛化準確率。模型是依可學類別平均召回與Normal誤報選擇；結果用於選型，沒有獨立最終測試集。24/24訓練內重播刻意不作效能證據。</a:t>
            </a:r>
          </a:p>
          <a:p>
            <a:r>
              <a:t>來源：reports/wafer_classifier/comparison.json、README.md；24 片留一片驗證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每個sensor一個標準化Lasso，基礎前段特徵加先前sensor，排除未來測項。現行設計不使用subflow特徵。中位數補值與標準化在訓練折內估計。線上偏差修正只可使用已收到殘差；其增益尚未在此驗證表中量化。</a:t>
            </a:r>
          </a:p>
          <a:p>
            <a:r>
              <a:t>來源：Question_20260919.pdf 第 3–5 頁；scene2/train_temp_models.py；Main.flow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2排除、24wafer、1920die；外層5折按wafer分組，同一wafer不跨訓練／測試。灰色基準為每折僅用訓練wafer的溫度平均值。Lasso結果使用已保存的相同分組評估；未套線上校正，假設前序特徵可用。這不是現場延遲、缺值或量產效能證明。MAE降低範圍63.1%至98.4%。</a:t>
            </a:r>
          </a:p>
          <a:p>
            <a:r>
              <a:t>來源：artifacts/scene2/evaluation.json；presentations/evidence.json（同折重算基準）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是資訊架構示意，非現場截圖。第一層是目前wafer、單一label、信心與更新狀態；第二層Fail及yield；第三層空間分布與時間趨勢；點擊後才展開PID與測項。信心尚未校準，不能等同準確率。是否真的降低操作時間需做使用者任務測試。</a:t>
            </a:r>
          </a:p>
          <a:p>
            <a:r>
              <a:t>來源：realtime/web/hierarchy.js、outcomes.js、notifications.js；建議資訊層級示意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原始場景二模板，保留版面與控制項。六張圖各對應一個sensor，可切預測、實測、誤差。右側MAE/散點/趨勢回答誤差大小與是否穩定。此截圖是本機重播資料，未用它宣稱線上模型驗證。兩個場景是獨立頁面，場景一採用相同視覺語言。</a:t>
            </a:r>
          </a:p>
          <a:p>
            <a:r>
              <a:t>來源：scene2/web/wafer_map_template.html；本機資料重播畫面，非現場效能證據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ACS/Nexus透過ONEAPI提供事件與TP請求。Edge做模型運算，溫度透過官方Action回覆；異常訊息用ActionManager.set_message，TCCT輪詢取回。報表另由Edge背景HTTP POST到HC，瀏覽器查HC JSON API。AUS用於映像發布和官方部署，不是這條報表HTTP傳輸的中繼。</a:t>
            </a:r>
          </a:p>
          <a:p>
            <a:r>
              <a:t>來源：ONEAPI_Manual.pdf；Question 第 5–6 頁；edge_monitor.py、hc_push.py、hc_server.py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場曾遇到不完整JSON與BrokenPipe。舊版3秒逾時是可能因素，沒有足夠現場紀錄證明唯一根因。v3加入gzip、60秒逾時、完整接收再寫入與重試。另有晚到預測請求：讀入第一個target值前保存推論，晚到僅回傳保存值並標記late_request_frozen，排除準時預測MAE；這不能恢復已錯過的實際時機。47項本機測試通過，包括20MB壓縮payload/截斷重送。未完成Gemini現場驗收。</a:t>
            </a:r>
          </a:p>
          <a:p>
            <a:r>
              <a:t>來源：現場錯誤日誌；tests/test_hc_transport.py、test_task_integration.py；tasks-v3 本機修正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階段不能宣稱節省多少測試時間。示例：80顆中24顆時觸發，未測56顆=70%，只是未測die比例上限，尚未扣除誤報、停止延遲、每die測時差異等。系統目前不自動停測。需要量測：異常召回/正常誤報、首次有效通知時間、溫度準時率與p95延遲、HC資料新鮮度、UI定位任務用時。</a:t>
            </a:r>
          </a:p>
          <a:p>
            <a:r>
              <a:t>來源：評估計畫；非已達成成效。80 die 來自題目；24 die 為示意觸發點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不宣稱整體完成。支持的出發點：簡單模型作為小樣本起點；合法前序訊號可改善溫度MAE；官方事件/Action與獨立背景報表是可測試架構。待證明：七類泛化、實際提前時機、現場連線穩定性、操作時間縮短、真實節省成本。</a:t>
            </a:r>
          </a:p>
          <a:p>
            <a:r>
              <a:t>來源：證據彙整：本簡報第 5、7、11 頁；題目第 7 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引用以20260919版本為準。舊README部分敘述（尚未替換即時服務）已過時，本簡報模型現況以目前程式為準。評估數字以comparison.json/evaluation.json為準。數據證据json附在presentations/evidence.json。不要將in-sample24/24、未校準confidence或本機47tests當作量產准确率。</a:t>
            </a:r>
          </a:p>
          <a:p>
            <a:r>
              <a:t>來源：專案內部簡報；原始競賽資料不隨此簡報附送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ADVANTEST ACS RTDI  /  場景 1 + 場景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把判斷帶進測試流程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依據 Question_20260919.pdf 與本專案實驗；2026.09.20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515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從「測完再分析」走向「測試中取得可用結果」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530352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93775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01  發現異常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93775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為工程師整理 wafer 狀態、失敗位置與證據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788920"/>
            <a:ext cx="553212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971800"/>
            <a:ext cx="516635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02  預測溫度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516635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在指定測項前，向測試程式回傳預測值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相同資料基礎，兩個獨立任務；重點是結果能否在正確時機被使用。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01  問題與目標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問題不只在模型，而在判斷來得太晚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題目：Question_20260919.pdf，第 1–2、7 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現在的負擔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測試完成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再整理資料、找異常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希望的改變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測試進行中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產生分類／預測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可用的結果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人員能追查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機台程式能接收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42316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42316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50% 評分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133087"/>
            <a:ext cx="7589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Gemini 運行 25% ＋ 正確偵測／預測時機 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先解決資料、時序與回傳，再討論模型複雜度。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02  資料限制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資料量看似很大，獨立的標籤其實很少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題目第 3 頁；data/TrainDataInfo.txt；artifacts/wafer_classifier/info.json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00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可用 wafers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00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1,920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060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die 量測列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200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3,036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每 die 測項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1064240" cy="1600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105613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 的監督訊號只有 24 個 wafer 標籤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424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17 Normal  ／  2 Low yield  ／  其餘 5 類各 1 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按 wafer 分組驗證；不能隨機拆 die，製造虛高的成績。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03  異常偵測的設計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1：先判斷 wafer，再讓人追到 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realtime/classifier_features.py、classifier_engine.py、notifications.py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已完成的 die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實測值、PF、site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只取目前已收到資料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44 個摘要特徵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失敗比例與分布變化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L2 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單一 wafer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官方類別＋信心分數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附實測位置與量測證據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212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PF / Fail：測試得到的結果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51206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Wafer label：模型的整體判斷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不把 wafer 標籤貼到每顆 die；也不把統計偏離直接叫作根因。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04  場景 1 的量化證據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為何先選簡單分類器？現有比較支持這個取捨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reports/wafer_classifier/comparison.json、README.md；24 片留一片驗證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完整 wafer 留一片驗證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377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Logistic L2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322576"/>
            <a:ext cx="4663440" cy="25603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322576"/>
            <a:ext cx="3691889" cy="25603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19 /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286000"/>
            <a:ext cx="192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正常誤報 0/17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2377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218688"/>
            <a:ext cx="4663440" cy="25603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3218688"/>
            <a:ext cx="3303269" cy="25603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182112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17 /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182112"/>
            <a:ext cx="192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正常誤報 0/17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78224"/>
            <a:ext cx="2377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Extra Trees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114800"/>
            <a:ext cx="4663440" cy="25603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4114800"/>
            <a:ext cx="3497579" cy="25603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78224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18 /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078224"/>
            <a:ext cx="192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正常誤報 1/17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支持採用較簡單的候選；五個單例異常類別的泛化能力仍未被證明。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05  溫度預測的設計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2：先問「現在拿得到什麼」，再預測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Question_20260919.pdf 第 3–5 頁；scene2/train_temp_models.py；Main.flow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前段測項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Suite / IDDQ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作為共同輸入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預測 sensor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6 個獨立 Lasso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可加入先前 sensor 實測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38328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量測 sensor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017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對照預測與實測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誤差可供後續校正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69080"/>
            <a:ext cx="10972800" cy="7315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24528"/>
            <a:ext cx="10515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1 → 實測 1 → sensor 2 → 實測 2 → … → sensor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限制輸入的時間範圍，才能讓離線模型具備上線使用的可能。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06  場景 2 的量化證據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溫度預測比「固定猜平均值」更有資訊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artifacts/scene2/evaluation.json；presentations/evidence.json（同折重算基準）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MAE（°C）越低越好；5 折按 wafer 分組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572768"/>
            <a:ext cx="182880" cy="146304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490472"/>
            <a:ext cx="1371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固定平均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1572768"/>
            <a:ext cx="182880" cy="146304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1490472"/>
            <a:ext cx="1005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Lasso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066543"/>
            <a:ext cx="3102174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2231136"/>
            <a:ext cx="48534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0.198 → 0.003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57400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−98.4%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51176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560320"/>
            <a:ext cx="2617964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2724912"/>
            <a:ext cx="680210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551176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0.167 → 0.043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551176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−74.0%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44952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054096"/>
            <a:ext cx="5243164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0" y="3218688"/>
            <a:ext cx="484800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044952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0.334 → 0.031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044952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−90.8%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38728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3547872"/>
            <a:ext cx="2896743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0" y="3712464"/>
            <a:ext cx="792852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538728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0.185 → 0.051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538728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−72.6%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032504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041648"/>
            <a:ext cx="2903804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0" y="4206240"/>
            <a:ext cx="1030496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032504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0.185 → 0.066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032504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−64.5%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26280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sensor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535424"/>
            <a:ext cx="2831512" cy="118872"/>
          </a:xfrm>
          <a:prstGeom prst="rect">
            <a:avLst/>
          </a:prstGeom>
          <a:solidFill>
            <a:srgbClr val="B9C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80" y="4700016"/>
            <a:ext cx="1045824" cy="118872"/>
          </a:xfrm>
          <a:prstGeom prst="rect">
            <a:avLst/>
          </a:prstGeom>
          <a:solidFill>
            <a:srgbClr val="365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526280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0.181 → 0.067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526280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−63.1%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六個 sensor 的 MAE 下降 63–98%；尚未證明現場準時回覆與線上校正增益。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07  資訊如何服務工程師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 的 UI：先做判斷，再逐步看細節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realtime/web/hierarchy.js、outcomes.js、notifications.js；建議資訊層級示意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7132320" cy="352044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6400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Wafer  →  Label  → 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Progress       Fail       Yield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54680"/>
            <a:ext cx="28346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1828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Wafer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154680"/>
            <a:ext cx="33832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429000"/>
            <a:ext cx="26517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Yield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6309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點選 die  →  側邊查看 PID / 測項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108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一眼知道是否要看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3108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一圖找到問題位置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108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一次點擊追查證據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省下找資訊的步驟；不是在主畫面增加更多說明文字。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08  報表呈現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2 的 UI：保留原始六張圖，對照同一件事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scene2/web/wafer_map_template.html；本機資料重播畫面，非現場效能證據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09</a:t>
            </a:r>
          </a:p>
        </p:txBody>
      </p:sp>
      <p:pic>
        <p:nvPicPr>
          <p:cNvPr id="7" name="Picture 6" descr="scene2_ui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8321040" cy="43342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89720" y="1874519"/>
            <a:ext cx="23774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六個 sensor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各自有誤差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3246120"/>
            <a:ext cx="23774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同一顆 die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可以交叉查看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4572000"/>
            <a:ext cx="23774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預測值 ≠ 實測值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09  系統分工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官方系統管測試，我們補上分析與報表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ONEAPI_Manual.pdf；Question 第 5–6 頁；edge_monitor.py、hc_push.py、hc_server.py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SmarTest / Nexus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執行測試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ONEAPI 事件與請求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Edge 容器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 分類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2 預測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73736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92024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HC /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接收 JSON、保存報告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兩個獨立任務頁面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33172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331720"/>
            <a:ext cx="457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7132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←  官方 Action：溫度回覆／異常通知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05156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部署路徑：HC build → AUS registry → 官方部署機制 → 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模型回覆不等待報表上傳；HC 斷線不應阻塞測試 callback。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10  工程證據與限制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現場暴露的問題，讓可靠性成為設計的一部分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現場錯誤日誌；tests/test_hc_transport.py、test_task_integration.py；tasks-v3 本機修正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530352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93775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資料傳一半斷線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93775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壓縮＋背景重試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完整接收後才保存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548640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120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預測請求晚於量測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51206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只能使用保存的前序結果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標記延遲，不計準時成功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834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47 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78808"/>
            <a:ext cx="2880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本機回歸測試通過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24231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20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178808"/>
            <a:ext cx="25603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截斷與重送測試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已驗證本機失敗處理；現場根因、回覆時限與部署效果仍需驗收。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11  如何驗證目標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真正的價值，要用「提前多少、付出什麼代價」衡量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評估計畫；非已達成成效。80 die 來自題目；24 die 為示意觸發點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異常召回、正常誤報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首次有效通知時間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MAE ＋ 準時回覆率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請求到回覆的 p95 延遲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645920"/>
            <a:ext cx="333756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2971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操作與可靠性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971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找到證據所需時間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資料新鮮度與重送成功率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984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示意：80 顆中第 24 顆觸發 → 尚未測 56 顆（70%）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607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這是可避免工作量的理論上限，不是已節省時間；目前沒有自動停測。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96128"/>
            <a:ext cx="11155680" cy="521207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只有在誤報可接受、回覆準時且操作有效時，提前判斷才真正有價值。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12  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設計方向有證據，量產承諾仍需下一輪驗證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證據彙整：本簡報第 5、7、11 頁；題目第 7 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530352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5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已有證據支持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5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簡單分類器適合作為目前起點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前序量測能改善溫度預測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傳輸失敗情境可本機重現與測試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548640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120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下一步才能證明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51206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七類 wafer 的泛化能力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現場準時回覆與穩定運行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人員操作時間與實際節省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1060704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把正確資料，在正確時機，交給需要做決定的人與程式。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EVIDENCE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附錄｜數字與設計的來源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專案內部簡報；原始競賽資料不隨此簡報附送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078"/>
                </a:solidFill>
                <a:latin typeface="Microsoft JhengHei"/>
              </a:defRPr>
            </a:pPr>
            <a:r>
              <a:rPr>
                <a:ea typeface="Microsoft Jheng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問題與限制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doc/Question_20260919.pdf：第 1–7 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官方介面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67712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doc/ONEAPI_Manual.pdf；SmarTest Main.flow / Predict.java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9504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1 選型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89504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artifacts/wafer_classifier/info.json；reports/wafer_classifier/comparison.json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11296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場景 2 效能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11296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artifacts/scene2/evaluation.json；presentations/evidence.json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33088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因果與傳輸測試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33088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tests/test_task_integration.py；tests/test_hc_transport.py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1920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65C6D"/>
                </a:solidFill>
                <a:latin typeface="Microsoft JhengHei"/>
              </a:defRPr>
            </a:pPr>
            <a:r>
              <a:rPr>
                <a:ea typeface="Microsoft JhengHei"/>
              </a:rPr>
              <a:t>部署與版本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54880"/>
            <a:ext cx="8869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282D"/>
                </a:solidFill>
                <a:latin typeface="Microsoft JhengHei"/>
              </a:defRPr>
            </a:pPr>
            <a:r>
              <a:rPr>
                <a:ea typeface="Microsoft JhengHei"/>
              </a:rPr>
              <a:t>deploy/HC_EDGE_TASKS.md；tasks-v3 為本機修正版，待現場驗收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